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2E9E6B"/>
              </a:solidFill>
            </c:spPr>
          </c:dPt>
          <c:dPt>
            <c:idx val="1"/>
            <c:spPr>
              <a:solidFill>
                <a:srgbClr val="E0A526"/>
              </a:solidFill>
            </c:spPr>
          </c:dPt>
          <c:dPt>
            <c:idx val="2"/>
            <c:spPr>
              <a:solidFill>
                <a:srgbClr val="D64545"/>
              </a:solidFill>
            </c:spPr>
          </c:dPt>
          <c:dPt>
            <c:idx val="3"/>
            <c:spPr>
              <a:solidFill>
                <a:srgbClr val="7C8B99"/>
              </a:solidFill>
            </c:spPr>
          </c:dPt>
          <c:dPt>
            <c:idx val="4"/>
            <c:spPr>
              <a:solidFill>
                <a:srgbClr val="3F7CC4"/>
              </a:solidFill>
            </c:spPr>
          </c:dPt>
          <c:cat>
            <c:strRef>
              <c:f>Sheet1!$A$2:$A$6</c:f>
              <c:strCache>
                <c:ptCount val="5"/>
                <c:pt idx="0">
                  <c:v>Pass</c:v>
                </c:pt>
                <c:pt idx="1">
                  <c:v>Partial</c:v>
                </c:pt>
                <c:pt idx="2">
                  <c:v>Fail</c:v>
                </c:pt>
                <c:pt idx="3">
                  <c:v>Not configured</c:v>
                </c:pt>
                <c:pt idx="4">
                  <c:v>Needs evidence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4</c:v>
                </c:pt>
                <c:pt idx="2">
                  <c:v>11</c:v>
                </c:pt>
                <c:pt idx="3">
                  <c:v>9</c:v>
                </c:pt>
                <c:pt idx="4">
                  <c:v>17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2E9E6B"/>
            </a:solidFill>
          </c:spPr>
          <c:cat>
            <c:strRef>
              <c:f>Sheet1!$A$2:$A$10</c:f>
              <c:strCache>
                <c:ptCount val="9"/>
                <c:pt idx="0">
                  <c:v>Logging &amp; Alerting</c:v>
                </c:pt>
                <c:pt idx="1">
                  <c:v>Site Architecture</c:v>
                </c:pt>
                <c:pt idx="2">
                  <c:v>Security</c:v>
                </c:pt>
                <c:pt idx="3">
                  <c:v>Origin Setup</c:v>
                </c:pt>
                <c:pt idx="4">
                  <c:v>DNS Infrastructure</c:v>
                </c:pt>
                <c:pt idx="5">
                  <c:v>Certificates</c:v>
                </c:pt>
                <c:pt idx="6">
                  <c:v>Caching</c:v>
                </c:pt>
                <c:pt idx="7">
                  <c:v>Failover</c:v>
                </c:pt>
                <c:pt idx="8">
                  <c:v>Property Manager Settings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6</c:v>
                </c:pt>
                <c:pt idx="7">
                  <c:v>1</c:v>
                </c:pt>
                <c:pt idx="8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</c:v>
                </c:pt>
              </c:strCache>
            </c:strRef>
          </c:tx>
          <c:spPr>
            <a:solidFill>
              <a:srgbClr val="E0A526"/>
            </a:solidFill>
          </c:spPr>
          <c:cat>
            <c:strRef>
              <c:f>Sheet1!$A$2:$A$10</c:f>
              <c:strCache>
                <c:ptCount val="9"/>
                <c:pt idx="0">
                  <c:v>Logging &amp; Alerting</c:v>
                </c:pt>
                <c:pt idx="1">
                  <c:v>Site Architecture</c:v>
                </c:pt>
                <c:pt idx="2">
                  <c:v>Security</c:v>
                </c:pt>
                <c:pt idx="3">
                  <c:v>Origin Setup</c:v>
                </c:pt>
                <c:pt idx="4">
                  <c:v>DNS Infrastructure</c:v>
                </c:pt>
                <c:pt idx="5">
                  <c:v>Certificates</c:v>
                </c:pt>
                <c:pt idx="6">
                  <c:v>Caching</c:v>
                </c:pt>
                <c:pt idx="7">
                  <c:v>Failover</c:v>
                </c:pt>
                <c:pt idx="8">
                  <c:v>Property Manager Settings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D64545"/>
            </a:solidFill>
          </c:spPr>
          <c:cat>
            <c:strRef>
              <c:f>Sheet1!$A$2:$A$10</c:f>
              <c:strCache>
                <c:ptCount val="9"/>
                <c:pt idx="0">
                  <c:v>Logging &amp; Alerting</c:v>
                </c:pt>
                <c:pt idx="1">
                  <c:v>Site Architecture</c:v>
                </c:pt>
                <c:pt idx="2">
                  <c:v>Security</c:v>
                </c:pt>
                <c:pt idx="3">
                  <c:v>Origin Setup</c:v>
                </c:pt>
                <c:pt idx="4">
                  <c:v>DNS Infrastructure</c:v>
                </c:pt>
                <c:pt idx="5">
                  <c:v>Certificates</c:v>
                </c:pt>
                <c:pt idx="6">
                  <c:v>Caching</c:v>
                </c:pt>
                <c:pt idx="7">
                  <c:v>Failover</c:v>
                </c:pt>
                <c:pt idx="8">
                  <c:v>Property Manager Settings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configured</c:v>
                </c:pt>
              </c:strCache>
            </c:strRef>
          </c:tx>
          <c:spPr>
            <a:solidFill>
              <a:srgbClr val="7C8B99"/>
            </a:solidFill>
          </c:spPr>
          <c:cat>
            <c:strRef>
              <c:f>Sheet1!$A$2:$A$10</c:f>
              <c:strCache>
                <c:ptCount val="9"/>
                <c:pt idx="0">
                  <c:v>Logging &amp; Alerting</c:v>
                </c:pt>
                <c:pt idx="1">
                  <c:v>Site Architecture</c:v>
                </c:pt>
                <c:pt idx="2">
                  <c:v>Security</c:v>
                </c:pt>
                <c:pt idx="3">
                  <c:v>Origin Setup</c:v>
                </c:pt>
                <c:pt idx="4">
                  <c:v>DNS Infrastructure</c:v>
                </c:pt>
                <c:pt idx="5">
                  <c:v>Certificates</c:v>
                </c:pt>
                <c:pt idx="6">
                  <c:v>Caching</c:v>
                </c:pt>
                <c:pt idx="7">
                  <c:v>Failover</c:v>
                </c:pt>
                <c:pt idx="8">
                  <c:v>Property Manager Settings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</c:v>
                </c:pt>
                <c:pt idx="1">
                  <c:v>0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Needs evidence</c:v>
                </c:pt>
              </c:strCache>
            </c:strRef>
          </c:tx>
          <c:spPr>
            <a:solidFill>
              <a:srgbClr val="3F7CC4"/>
            </a:solidFill>
          </c:spPr>
          <c:cat>
            <c:strRef>
              <c:f>Sheet1!$A$2:$A$10</c:f>
              <c:strCache>
                <c:ptCount val="9"/>
                <c:pt idx="0">
                  <c:v>Logging &amp; Alerting</c:v>
                </c:pt>
                <c:pt idx="1">
                  <c:v>Site Architecture</c:v>
                </c:pt>
                <c:pt idx="2">
                  <c:v>Security</c:v>
                </c:pt>
                <c:pt idx="3">
                  <c:v>Origin Setup</c:v>
                </c:pt>
                <c:pt idx="4">
                  <c:v>DNS Infrastructure</c:v>
                </c:pt>
                <c:pt idx="5">
                  <c:v>Certificates</c:v>
                </c:pt>
                <c:pt idx="6">
                  <c:v>Caching</c:v>
                </c:pt>
                <c:pt idx="7">
                  <c:v>Failover</c:v>
                </c:pt>
                <c:pt idx="8">
                  <c:v>Property Manager Settings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6</c:v>
                </c:pt>
                <c:pt idx="5">
                  <c:v>3</c:v>
                </c:pt>
                <c:pt idx="6">
                  <c:v>0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721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B6B7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 = (pass + half of partial) / verifiable checks = 54.2%. Risk level: High (workbook).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A33A"/>
                </a:solidFill>
                <a:latin typeface="Calibri"/>
              </a:rPr>
              <a:t>AUDIT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Findings &amp; Recommended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9D3DC"/>
                </a:solidFill>
                <a:latin typeface="Calibri"/>
              </a:rPr>
              <a:t>www.netapp.com_pm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673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9B6C2"/>
                </a:solidFill>
                <a:latin typeface="Calibri"/>
              </a:rPr>
              <a:t>checks audited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2461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7673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9B6C2"/>
                </a:solidFill>
                <a:latin typeface="Calibri"/>
              </a:rPr>
              <a:t>areas reviewed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9B6C2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rial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Overall risk is High, driven mainly by Property Manager Settings and Failover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64545"/>
                </a:solidFill>
                <a:latin typeface="Calibri"/>
              </a:rPr>
              <a:t>OVERALL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D64545"/>
                </a:solidFill>
                <a:latin typeface="Arial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212B"/>
                </a:solidFill>
                <a:latin typeface="Calibri"/>
              </a:rPr>
              <a:t>11 failed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9E6B"/>
                </a:solidFill>
                <a:latin typeface="Calibri"/>
              </a:rPr>
              <a:t>VERIFIED CHECKS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E9E6B"/>
                </a:solidFill>
                <a:latin typeface="Arial"/>
              </a:rPr>
              <a:t>24</a:t>
            </a:r>
            <a:r>
              <a:rPr sz="2000" b="0" i="0">
                <a:solidFill>
                  <a:srgbClr val="2E9E6B"/>
                </a:solidFill>
                <a:latin typeface="Arial"/>
              </a:rPr>
              <a:t> of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959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212B"/>
                </a:solidFill>
                <a:latin typeface="Calibri"/>
              </a:rPr>
              <a:t>17 more need evidence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017520" y="1280160"/>
          <a:ext cx="28346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86200" y="251460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7212B"/>
                </a:solidFill>
                <a:latin typeface="Arial"/>
              </a:rPr>
              <a:t>65</a:t>
            </a:r>
          </a:p>
          <a:p>
            <a:pPr algn="ctr"/>
            <a:r>
              <a:rPr sz="1100" b="0" i="0">
                <a:solidFill>
                  <a:srgbClr val="17212B"/>
                </a:solidFill>
                <a:latin typeface="Arial"/>
              </a:rPr>
              <a:t>checks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664208"/>
            <a:ext cx="182880" cy="18288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7212B"/>
                </a:solidFill>
                <a:latin typeface="Calibri"/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60020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7212B"/>
                </a:solidFill>
                <a:latin typeface="Arial"/>
              </a:rPr>
              <a:t>24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82880" cy="18288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3055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7212B"/>
                </a:solidFill>
                <a:latin typeface="Calibri"/>
              </a:rPr>
              <a:t>Partial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3055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7212B"/>
                </a:solidFill>
                <a:latin typeface="Arial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724912"/>
            <a:ext cx="182880" cy="18288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66090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7212B"/>
                </a:solidFill>
                <a:latin typeface="Calibri"/>
              </a:rPr>
              <a:t>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60904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7212B"/>
                </a:solidFill>
                <a:latin typeface="Arial"/>
              </a:rPr>
              <a:t>11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255263"/>
            <a:ext cx="182880" cy="182880"/>
          </a:xfrm>
          <a:prstGeom prst="ellipse">
            <a:avLst/>
          </a:prstGeom>
          <a:solidFill>
            <a:srgbClr val="7C8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1912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7212B"/>
                </a:solidFill>
                <a:latin typeface="Calibri"/>
              </a:rPr>
              <a:t>Not configured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91256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7212B"/>
                </a:solidFill>
                <a:latin typeface="Arial"/>
              </a:rPr>
              <a:t>9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785616"/>
            <a:ext cx="182880" cy="182880"/>
          </a:xfrm>
          <a:prstGeom prst="ellipse">
            <a:avLst/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2160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7212B"/>
                </a:solidFill>
                <a:latin typeface="Calibri"/>
              </a:rPr>
              <a:t>Needs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72160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7212B"/>
                </a:solidFill>
                <a:latin typeface="Arial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rial"/>
              </a:rPr>
              <a:t>Where the gaps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8 of 11 failures sit in Property Manager Settings and Failover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34440"/>
          <a:ext cx="56692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63640" y="1325880"/>
            <a:ext cx="2423160" cy="9601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64545"/>
                </a:solidFill>
                <a:latin typeface="Arial"/>
              </a:rPr>
              <a:t>Needs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12B"/>
                </a:solidFill>
                <a:latin typeface="Calibri"/>
              </a:rPr>
              <a:t>Property Manager Settings: 5 failed checks of 10.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441448"/>
            <a:ext cx="2423160" cy="9601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5328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9E6B"/>
                </a:solidFill>
                <a:latin typeface="Arial"/>
              </a:rPr>
              <a:t>Strongest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12B"/>
                </a:solidFill>
                <a:latin typeface="Calibri"/>
              </a:rPr>
              <a:t>Origin Setup: 6 of 8 checks pass.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557015"/>
            <a:ext cx="2423160" cy="9601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48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F7CC4"/>
                </a:solidFill>
                <a:latin typeface="Arial"/>
              </a:rPr>
              <a:t>Least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04487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12B"/>
                </a:solidFill>
                <a:latin typeface="Calibri"/>
              </a:rPr>
              <a:t>DNS Infrastructure: 6 checks need outside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rial"/>
              </a:rPr>
              <a:t>What's already working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24 checks pass across 7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rial"/>
              </a:rPr>
              <a:t>Caching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0195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B7A"/>
                </a:solidFill>
                <a:latin typeface="Calibri"/>
              </a:rPr>
              <a:t>[c] Rule Precedence (Shadowing) evaluated; [c] Vary Header Fragmentation evaluated; [c] honor-expires Conflict evaluated; Static content cached ≥ 7 d…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645920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59" y="15727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rial"/>
              </a:rPr>
              <a:t>Origin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190195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B7A"/>
                </a:solidFill>
                <a:latin typeface="Calibri"/>
              </a:rPr>
              <a:t>Origin uses DNS name (not IP); SiteShield or Origin IP ACL enabled; Stable CIDR used; Persistent connections configured; Multiple origins configured;…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91839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91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186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rial"/>
              </a:rPr>
              <a:t>Property Manager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B7A"/>
                </a:solidFill>
                <a:latin typeface="Calibri"/>
              </a:rPr>
              <a:t>Custom Maps used with SiteShield; Brotli enabled; Brotli on-the-fly enabled; Optimized XML selected; Prefetching disabled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92040" y="3291839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291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32186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rial"/>
              </a:rPr>
              <a:t>DNS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354787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B7A"/>
                </a:solidFill>
                <a:latin typeface="Calibri"/>
              </a:rPr>
              <a:t>Edge hostname uses dual-stack map; Edge hostname on correct delivery product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rial"/>
              </a:rPr>
              <a:t>11 failures, 4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Grouped by area; highest-severity items listed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920240" cy="32461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64545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11680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Property Manager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51760"/>
            <a:ext cx="1645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Connect timeout configured (2–5s)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LFO scoped to large files only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Read timeout configured (5–10s)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SureRoute correctly configured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+ 1 more (see appendix)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325880"/>
            <a:ext cx="1920240" cy="32461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417320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64545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2011680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Failover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2651760"/>
            <a:ext cx="1645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Custom error pages include Akamai code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Error pages return 503 + no-store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Site Failover matches on Origin Timeout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25880"/>
            <a:ext cx="1920240" cy="32461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1417320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64545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011680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651760"/>
            <a:ext cx="1645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HTML/SEO landing pages cached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preserve-stale-objects enabled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325880"/>
            <a:ext cx="1920240" cy="32461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1417320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64545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011680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651760"/>
            <a:ext cx="1645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5B6B7A"/>
                </a:solidFill>
                <a:latin typeface="Calibri"/>
              </a:rPr>
              <a:t>TLS 1.0 disabled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rial"/>
              </a:rPr>
              <a:t>Recommended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Fix failures first, then close partial gaps, then collect missing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624328" cy="33375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0–30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rial"/>
              </a:rPr>
              <a:t>Fix failed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30428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Implement stale-while-revalidate or scheduled invalidation for HTML p…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Default Rule and Rule 0e2e137c-f1c2-4f08-94f6-7c21e2d62a46.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Default Rule and Origin Rules.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Inject Akamai reference code %(AK_REFERENCE_ID) into custom error pag…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Reconfigure failover rules to return HTTP 503 and no-store headers.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+ 6 more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325880"/>
            <a:ext cx="2624328" cy="33375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7288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50876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30–90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920240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rial"/>
              </a:rPr>
              <a:t>Close partial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286000"/>
            <a:ext cx="230428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Enable cache:validate-etag and preserve origin ETags.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Enable Tiered Distribution or document SiteShield offload architectur…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Default Rule and Origin Rules.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Add reporting maprule tags if CNAME collapsing is enabled in EdgeDNS/…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Configure serial pre-spreading if high traffic spikes are expected.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+ 8 more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1325880"/>
            <a:ext cx="2624328" cy="33375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5" y="150876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90+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920240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rial"/>
              </a:rPr>
              <a:t>Confirm unverified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286000"/>
            <a:ext cx="230428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EDGEDNS_EXPORT (4)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CPS_EXPORT (3)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DNS_EXPORT (2)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AAP_ASM_EXPORT (2)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GTM_EXPORT (2)</a:t>
            </a:r>
          </a:p>
          <a:p>
            <a:pPr algn="l" marL="171450" indent="-171450">
              <a:spcAft>
                <a:spcPts val="400"/>
              </a:spcAft>
              <a:buChar char="•"/>
            </a:pPr>
            <a:r>
              <a:rPr sz="1050" b="0" i="0">
                <a:solidFill>
                  <a:srgbClr val="17212B"/>
                </a:solidFill>
                <a:latin typeface="Calibri"/>
              </a:rPr>
              <a:t>+ 3 more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rial"/>
              </a:rPr>
              <a:t>To finish the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17 checks can’t be judged from the data provided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168"/>
            <a:ext cx="457200" cy="457200"/>
          </a:xfrm>
          <a:prstGeom prst="ellipse">
            <a:avLst/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984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EDGEDNS_EXPORT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7276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Calibri"/>
              </a:rPr>
              <a:t>Customer hostname CNAME TTL is ≥ 24h, All 6 EdgeDNS nameservers are configure…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92807"/>
            <a:ext cx="457200" cy="457200"/>
          </a:xfrm>
          <a:prstGeom prst="ellipse">
            <a:avLst/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470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CPS_EXPORT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2140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Calibri"/>
              </a:rPr>
              <a:t>Only one certificate per hostname, The latest cipher profile used, ECDSA or D…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41448"/>
            <a:ext cx="457200" cy="457200"/>
          </a:xfrm>
          <a:prstGeom prst="ellipse">
            <a:avLst/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41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957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DNS_EXPORT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7004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Calibri"/>
              </a:rPr>
              <a:t>Edge hostname TTL is default (6h), Multiple DNS providers used for redundancy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990087"/>
            <a:ext cx="457200" cy="457200"/>
          </a:xfrm>
          <a:prstGeom prst="ellipse">
            <a:avLst/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9008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443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AAP_ASM_EXPORT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18687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Calibri"/>
              </a:rPr>
              <a:t>Match targets fully cover hostname space, Overlaps are documented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538727"/>
            <a:ext cx="457200" cy="457200"/>
          </a:xfrm>
          <a:prstGeom prst="ellipse">
            <a:avLst/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3872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493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GTM_EXPORT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6732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Calibri"/>
              </a:rPr>
              <a:t>GTM load balancing configured, GTM health checks configured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087368"/>
            <a:ext cx="457200" cy="457200"/>
          </a:xfrm>
          <a:prstGeom prst="ellipse">
            <a:avLst/>
          </a:prstGeom>
          <a:solidFill>
            <a:srgbClr val="3F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87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41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rial"/>
              </a:rPr>
              <a:t>REGRESSION_TEST_EXPORT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31596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Calibri"/>
              </a:rPr>
              <a:t>Non-production mirrors production, Regression testing implemented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59028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B6B7A"/>
                </a:solidFill>
                <a:latin typeface="Calibri"/>
              </a:rPr>
              <a:t>+ 2 more groups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325880"/>
            <a:ext cx="2286000" cy="3154680"/>
          </a:xfrm>
          <a:prstGeom prst="roundRect">
            <a:avLst>
              <a:gd name="adj" fmla="val 6000"/>
            </a:avLst>
          </a:prstGeom>
          <a:solidFill>
            <a:srgbClr val="1F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5087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33A"/>
                </a:solidFill>
                <a:latin typeface="Arial"/>
              </a:rPr>
              <a:t>Why it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874519"/>
            <a:ext cx="19202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AEF"/>
                </a:solidFill>
                <a:latin typeface="Calibri"/>
              </a:rPr>
              <a:t>These 17 checks are 26% of the audit. Once the evidence is in, the score and risk level can be confirmed.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2D3A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07592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Assign owners for the 11 failed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2763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9B6C2"/>
                </a:solidFill>
                <a:latin typeface="Calibri"/>
              </a:rPr>
              <a:t>Target the Now list within 30 days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2D3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76272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Plan fixes for 13 partial or missing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9631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9B6C2"/>
                </a:solidFill>
                <a:latin typeface="Calibri"/>
              </a:rPr>
              <a:t>Schedule within 90 days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63239"/>
            <a:ext cx="548640" cy="54864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2D3A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44951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Provide evidence for 17 unverified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64991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9B6C2"/>
                </a:solidFill>
                <a:latin typeface="Calibri"/>
              </a:rPr>
              <a:t>So the audit can be completed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F2D3A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13632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Re-audit and re-score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3367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9B6C2"/>
                </a:solidFill>
                <a:latin typeface="Calibri"/>
              </a:rPr>
              <a:t>Confirm the risk level after changes 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9B6C2"/>
                </a:solidFill>
                <a:latin typeface="Calibri"/>
              </a:rPr>
              <a:t>Line-by-line detail for all 65 checks remains in the source workbook.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7212B"/>
                </a:solidFill>
                <a:latin typeface="Arial"/>
              </a:rPr>
              <a:t>Appendix: failed checks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2331720"/>
                <a:gridCol w="2331720"/>
              </a:tblGrid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Found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Recommended fix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Caching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HTML/SEO landing pages cached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Rule 2b023d23-2077-4576-8639-ed5c9ae5c2b0 matches /*/* an…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Implement stale-while-revalidate or scheduled invalidation for HTML p…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Caching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preserve-stale-objects enabled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&lt;cache:preserve-stale-objects&gt; = on" configured in Defaul…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Default Rule and Rule 0e2e137c-f1c2-4f08-94f6-7c21e2d62a46.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Certificates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TLS 1.0 disabled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&lt;security:ssl.forward-handshake-version-secure.protocols&gt;…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Default Rule and Origin Rules.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Failover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Custom error pages include Akamai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NetStorage fail-action rule 21576a0e-942b-4b02-8cd5-e949f…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Inject Akamai reference code %(AK_REFERENCE_ID) into custom error pag…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Failover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Error pages return 503 + no-store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NetStorage fail-action overrides client status code to 20…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Reconfigure failover rules to return HTTP 503 and no-store headers.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Failover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Site Failover matches on Origin Timeout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Rule 0e2e137c-f1c2-4f08-94f6-7c21e2d62a46 matches HTTP st…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Update Site Failover rule to explicitly match on origin connect/read…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7212B"/>
                </a:solidFill>
                <a:latin typeface="Arial"/>
              </a:rPr>
              <a:t>Appendix: failed checks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2331720"/>
                <a:gridCol w="2331720"/>
              </a:tblGrid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Found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Recommended fix</a:t>
                      </a:r>
                    </a:p>
                  </a:txBody>
                  <a:tcPr marL="73152" marR="73152" marT="27432" marB="27432" anchor="ctr">
                    <a:solidFill>
                      <a:srgbClr val="1F2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Property Manager Settings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Connect timeout configured (2–5s)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&lt;network:http.connect-timeout&gt; = 3000ms" is configured in…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Connect timeout must be configured globally between 2s and 5s.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Property Manager Settings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LFO scoped to large files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&lt;match:uri.ext value=woff2 jpg png mp4"&gt; applies caching…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Configure Partial Object Caching / LFO for large video/binary files (…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Property Manager Settings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Read timeout configured (5–10s)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&lt;network:http.read&gt; = 31s" and &lt;network:http.first-byte-t…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Reduce network:http.read and network:http.first-byte-timeout to 5s–10…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Property Manager Settings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SureRoute correctly configured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&lt;assign:variable name=AKA_PM_SR_ENABLED"&gt; = "false"; Sure…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Configure SureRoute behavior with valid test object.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Property Manager Settings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SureRoute enabled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[Main XML]: &lt;assign:variable name=AKA_PM_SR_ENABLED"&gt; = "false"."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12B"/>
                          </a:solidFill>
                          <a:latin typeface="Calibri"/>
                        </a:rPr>
                        <a:t>Enable SureRoute in Property Manager.</a:t>
                      </a:r>
                    </a:p>
                  </a:txBody>
                  <a:tcPr marL="73152" marR="73152" marT="27432" marB="27432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7A3"/>
                </a:solidFill>
                <a:latin typeface="Calibri"/>
              </a:rPr>
              <a:t>www.netapp.com_pm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